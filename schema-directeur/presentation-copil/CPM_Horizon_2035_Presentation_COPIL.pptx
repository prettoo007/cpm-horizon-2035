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04" y="10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60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4864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Horizon 2035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un patrimoine. Ensemble.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48640" y="3017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directeur de transformation numérique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patrimoine matériel du Centre de Prêt de Matériel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3840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pilote — Digitalisation du cycle de vie des tentes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étape du schéma directeur CPM Horizon 2035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</a:t>
            </a:r>
            <a:endParaRPr lang="en-US" sz="1100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72154"/>
            <a:ext cx="3423792" cy="87940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113" y="1887610"/>
            <a:ext cx="1952870" cy="19528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CPM, depuis 1948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patrimoine bâti par des générations au service de la jeunesse et de la culture.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D86F6F">
              <a:alpha val="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ans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service public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51760" y="15544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6B7F94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6517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6517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5544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D4A843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65 910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75488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prêtés en 2024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0" y="15544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7C6BAA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2 762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8580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prêt / an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Centre de Prêt de Matériel met à disposition un patrimoine matériel considérable au service des mouvements de jeunesse, des associations culturelles et des acteurs de terrain de la Fédération Wallonie-Bruxelles. Ce patrimoine — tentes, matériel audiovisuel, loisirs, mobilier — est un bien commun qui n'a de valeur que lorsqu'il est utilisé.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: transformer un patrimoine matériel en patrimoine numérique, pour mieux le connaître, mieux le gérer et mieux le transmettre.</a:t>
            </a:r>
            <a:endParaRPr lang="en-US" sz="1400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nous pilotons à l'aveugle.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D86F6F">
              <a:alpha val="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536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Données dispersées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SAP, papier, mémoire humaine — l'information existe mais n'est pas connectée.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D86F6F">
              <a:alpha val="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404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Traçabilité inexistante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retracer l'historique complet d'une tente : fabrication, prêts, réparations, état.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D86F6F">
              <a:alpha val="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Double encodage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728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informations saisies plusieurs fois par différentes personnes, avec des erreurs.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D86F6F">
              <a:alpha val="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142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Décisions sans données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4434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réformer une tente ? Quand anticiper un remplacement ? Pas de réponse fiable.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4 irritants ont été identifiés et votés par les agents du terrain lors de 6 groupes de travail.</a:t>
            </a:r>
            <a:endParaRPr lang="en-US" sz="1100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co-construite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groupes de travail · 10 participants terrain · 9 heures de co-construction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5544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D86F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et cartographier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en 9 étapes documenté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2588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mars 2026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26517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D86F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2588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pertes d'efficacité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irritants majeurs votés collectivement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2588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mars 2026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" y="37490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D86F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32588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Imaginer le cycle digitalisé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258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numérique, QR code, traçabilité complète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2588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mars 2026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0" y="14630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83480" y="15544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D86F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235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les solutions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235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solutions en 4 familles, matrice impact/faisabilité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2356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mars 2026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46320" y="25603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983480" y="26517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D86F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62356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à l'exécution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62356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désignés, délais fixés, quick wins lancés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235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avril 2026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46320" y="365760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983480" y="37490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D86F6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2356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&amp; déploiement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2356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outils O365 prioritaires, roadmap 4 sprints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2356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mai 2026</a:t>
            </a:r>
            <a:endParaRPr lang="en-US" sz="900" dirty="0"/>
          </a:p>
        </p:txBody>
      </p:sp>
      <p:pic>
        <p:nvPicPr>
          <p:cNvPr id="36" name="Imag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336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déjà réalisé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budget, avec nos propres ressources.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6 groupes de travail avec 10 agents du terrain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14 solutions identifiées, priorisées et pilotées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40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Quick-win codes pannes déployé sur les quais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Goûter trimestriel — vidéo 2'16'' présentée aux 60 agents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186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Prototype fonctionnel de traçabilité connecté à SAP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23 tentes pilotes isolées (20 Senior + 3 Junior)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096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Sprint 0 lancé — kick-off effectué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prototype a été construit par Stéphanie POIRET et Bastien DEWEZ avec l'IA, hébergé sur GitHub.</a:t>
            </a:r>
            <a:endParaRPr lang="en-US" sz="110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pilote : les tentes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2560320" cy="1097280"/>
          </a:xfrm>
          <a:prstGeom prst="roundRect">
            <a:avLst>
              <a:gd name="adj" fmla="val 12500"/>
            </a:avLst>
          </a:prstGeom>
          <a:solidFill>
            <a:srgbClr val="D86F6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2 277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tentes au parc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560320" cy="1097280"/>
          </a:xfrm>
          <a:prstGeom prst="roundRect">
            <a:avLst>
              <a:gd name="adj" fmla="val 12500"/>
            </a:avLst>
          </a:prstGeom>
          <a:solidFill>
            <a:srgbClr val="6B7F94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38328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5 432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38328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prêtées en 2024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097280"/>
            <a:ext cx="2560320" cy="1097280"/>
          </a:xfrm>
          <a:prstGeom prst="roundRect">
            <a:avLst>
              <a:gd name="adj" fmla="val 12500"/>
            </a:avLst>
          </a:prstGeom>
          <a:solidFill>
            <a:srgbClr val="D4A843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ans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21792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d'historique SAP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tentes ?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Périmètre maîtrisable — 3 types, cycle de vie complet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3310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Fabriquées en interne — traçabilité de bout en bout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36941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Saisonnalité forte — le pic été teste le système à pleine charge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40782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Réplicable — le modèle s'étend ensuite aux autres secteurs</a:t>
            </a:r>
            <a:endParaRPr lang="en-US" sz="1300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terrain jusqu'à la décision — chaque couche enrichit le patrimoine numérique.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7C6BAA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371600"/>
            <a:ext cx="109728" cy="594360"/>
          </a:xfrm>
          <a:prstGeom prst="rect">
            <a:avLst/>
          </a:prstGeom>
          <a:solidFill>
            <a:srgbClr val="7C6BA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&amp; PILOTAGE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16642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Power Automate alertes · Rapports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1920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F7F"/>
                </a:solidFill>
              </a:rPr>
              <a:t>⬆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084832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E372A6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084832"/>
            <a:ext cx="109728" cy="594360"/>
          </a:xfrm>
          <a:prstGeom prst="rect">
            <a:avLst/>
          </a:prstGeom>
          <a:solidFill>
            <a:srgbClr val="E372A6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130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7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2377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· Maintenance prédictive · Copilot M365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97680" y="2633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F7F"/>
                </a:solidFill>
              </a:rPr>
              <a:t>⬆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798064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D86F6F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798064"/>
            <a:ext cx="109728" cy="594360"/>
          </a:xfrm>
          <a:prstGeom prst="rect">
            <a:avLst/>
          </a:prstGeom>
          <a:solidFill>
            <a:srgbClr val="D86F6F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8437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MÉTIER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3090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· Forms · SharePoint · Stream · Typo3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97680" y="33467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F7F"/>
                </a:solidFill>
              </a:rPr>
              <a:t>⬆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511296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D4A843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3511296"/>
            <a:ext cx="109728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557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RÉFÉRENTIEL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" y="38039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Lists → Dataverse · SAP · CSV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297680" y="40599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7F7F"/>
                </a:solidFill>
              </a:rPr>
              <a:t>⬆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4224528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5BA67D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4224528"/>
            <a:ext cx="109728" cy="594360"/>
          </a:xfrm>
          <a:prstGeom prst="rect">
            <a:avLst/>
          </a:prstGeom>
          <a:solidFill>
            <a:srgbClr val="5BA67D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4270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&amp; CAPTEURS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2960" y="45171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Ertalon · Zebra MC330L · Tablettes · Photos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montent, la valeur se crée à chaque couche.</a:t>
            </a:r>
            <a:endParaRPr lang="en-US" sz="1100" dirty="0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du pilote à la généralisation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18872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5BA67D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207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187452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5BA67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2860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pannes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748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118872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D86F6F"/>
          </a:solidFill>
          <a:ln/>
        </p:spPr>
      </p:sp>
      <p:sp>
        <p:nvSpPr>
          <p:cNvPr id="13" name="Text 10"/>
          <p:cNvSpPr/>
          <p:nvPr/>
        </p:nvSpPr>
        <p:spPr>
          <a:xfrm>
            <a:off x="2697480" y="1207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9748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— Août 2026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54680" y="187452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86F6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34640" y="22860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numérique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18872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6B7F94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1207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— Nov. 2026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03520" y="187452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6B7F94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83480" y="22860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terrain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inspection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tentes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95160" y="11887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95160" y="118872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6B7F94"/>
          </a:solidFill>
          <a:ln/>
        </p:spPr>
      </p:sp>
      <p:sp>
        <p:nvSpPr>
          <p:cNvPr id="25" name="Text 22"/>
          <p:cNvSpPr/>
          <p:nvPr/>
        </p:nvSpPr>
        <p:spPr>
          <a:xfrm>
            <a:off x="6995160" y="1207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9516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 2026 — Avr. 2027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52360" y="187452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6B7F94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32320" y="22860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2 277 tentes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402336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7C6BAA">
              <a:alpha val="8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2035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1520" y="43708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Réparations électromécaniques &amp; électroniques (2027-2029) → Généralisation tout patrimoine (2029-2031) → CPM intelligent &amp; prédictif (2031-2035)</a:t>
            </a:r>
            <a:endParaRPr lang="en-US" sz="1100" dirty="0"/>
          </a:p>
        </p:txBody>
      </p:sp>
      <p:pic>
        <p:nvPicPr>
          <p:cNvPr id="32" name="Imag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projet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collaborateurs × 2 jours/semaine = 8 jours/homme par semaine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D86F6F">
              <a:alpha val="6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463040"/>
            <a:ext cx="384048" cy="384048"/>
          </a:xfrm>
          <a:prstGeom prst="ellipse">
            <a:avLst/>
          </a:prstGeom>
          <a:solidFill>
            <a:srgbClr val="D86F6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Adrien NDEMA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664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 · 2 j/sem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0" y="1463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planning, risques, arbitrages, coordination, reporting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372A6">
              <a:alpha val="6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" y="2148840"/>
            <a:ext cx="384048" cy="384048"/>
          </a:xfrm>
          <a:prstGeom prst="ellipse">
            <a:avLst/>
          </a:prstGeom>
          <a:solidFill>
            <a:srgbClr val="E372A6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Stéphanie POIRET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350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7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métiers et données · 2 j/sem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0" y="2148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métier, règles de gestion, données, qualité, tests, accompagnement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D4A843">
              <a:alpha val="6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" y="283464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3444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Chloé HENDRICKX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3035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solutions numériques · 2 j/sem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0" y="2834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Apps, Power Automate, interfaces, formulaires, automatisations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4290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6B7F94">
              <a:alpha val="6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" y="3520440"/>
            <a:ext cx="384048" cy="384048"/>
          </a:xfrm>
          <a:prstGeom prst="ellipse">
            <a:avLst/>
          </a:prstGeom>
          <a:solidFill>
            <a:srgbClr val="6B7F94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3444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Bastien DEWEZ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34440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architecture &amp; technologies · 2 j/sem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57600" y="35204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sécurité, Dataverse, intégrations, exploitation, maintenance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411480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7C6BAA">
              <a:alpha val="6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rgbClr val="7C6BAA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23444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Olivier PRETTO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234440" y="4407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stratégique · Ponctuel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0" y="4206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arbitrages, ressources, validation des jalons, levée des blocages</a:t>
            </a:r>
            <a:endParaRPr lang="en-US" sz="1100" dirty="0"/>
          </a:p>
        </p:txBody>
      </p:sp>
      <p:pic>
        <p:nvPicPr>
          <p:cNvPr id="36" name="Imag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au service de l'humain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éclaire les décisions sans jamais se substituer à la responsabilité humaine.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372A6">
              <a:alpha val="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visuelle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analyse les photos de retour et détecte l'usure, les déchirures, l'état des coutures.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372A6">
              <a:alpha val="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5661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prédictive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6616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ans de données SAP pour prédire la fin de vie et planifier les remplacements.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13716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372A6">
              <a:alpha val="6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465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agents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4652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M365 aide les agents à trouver l'information et à documenter leur travail.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éthique — 5 principes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56616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7C6BAA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566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240280" y="356616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7C6BAA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240280" y="3566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Subsidiarité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31920" y="356616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7C6BAA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0" y="3566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23560" y="356616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7C6BAA">
              <a:alpha val="1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623560" y="3566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Réversibilité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15200" y="356616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7C6BAA">
              <a:alpha val="1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0" y="3566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6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Équité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 sur l'AI Act européen et les valeurs du service public.</a:t>
            </a:r>
            <a:endParaRPr lang="en-US" sz="1100" dirty="0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frugal et autonome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5BA67D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Phase 1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(tout sur M365 existant)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09728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D4A843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290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K€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42900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recommandé annuel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2+)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09728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6B7F94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jours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30936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Équivalent consultant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externes par 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: gratuit d'abord, investissement ciblé ensuite.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108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Microsoft 365 (SharePoint, Teams, Power Platform) — déjà couvert par la FWB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Pages pour l'hébergement des applications — gratuit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3767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QR Codes sur plaquettes Ertalon existantes — coût marginal (200-500 €)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" y="4096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Claude pour l'IA embarquée — 300-600 €/an (usage modéré)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" y="44256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Power Apps Premium + Dataverse — 2 000-3 500 €/an (Phase 2, si validé)</a:t>
            </a:r>
            <a:endParaRPr lang="en-US" sz="1200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succès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D86F6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service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Satisfaction usagers ≥ 4.2/5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Délai panne → réparation ≤ 5 jours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Taux de disponibilité ≥ 85%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10972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0972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7C6BAA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1188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100% patrimoine digitalisé en 2031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Taux d'adoption outils ≥ 90%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1188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Décisions basées sur les données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10972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0972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5BA67D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Temps traitement retour ÷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9224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Zéro double encodage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Coût maintenance −15% à 3 ans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Alignés sur les priorités : qualité de service (1), modernisation (2), efficacité (3).</a:t>
            </a:r>
            <a:endParaRPr lang="en-US" sz="1100" dirty="0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demandons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16485" y="1280160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381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9365" y="1417320"/>
            <a:ext cx="411480" cy="411480"/>
          </a:xfrm>
          <a:prstGeom prst="ellipse">
            <a:avLst/>
          </a:prstGeom>
          <a:solidFill>
            <a:srgbClr val="D86F6F"/>
          </a:solidFill>
          <a:ln/>
        </p:spPr>
      </p:sp>
      <p:sp>
        <p:nvSpPr>
          <p:cNvPr id="7" name="Text 4"/>
          <p:cNvSpPr/>
          <p:nvPr/>
        </p:nvSpPr>
        <p:spPr>
          <a:xfrm>
            <a:off x="399365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3716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du schéma directeur CPM Horizon 2035 comme cadre de référence du projet.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6485" y="2148840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381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9365" y="2286000"/>
            <a:ext cx="411480" cy="411480"/>
          </a:xfrm>
          <a:prstGeom prst="ellipse">
            <a:avLst/>
          </a:prstGeom>
          <a:solidFill>
            <a:srgbClr val="6B7F94"/>
          </a:solidFill>
          <a:ln/>
        </p:spPr>
      </p:sp>
      <p:sp>
        <p:nvSpPr>
          <p:cNvPr id="11" name="Text 8"/>
          <p:cNvSpPr/>
          <p:nvPr/>
        </p:nvSpPr>
        <p:spPr>
          <a:xfrm>
            <a:off x="399365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2402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L'allocation de 2 jours/semaine pour 4 collaborateurs sur les prochains mois.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16485" y="3017520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381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99365" y="3154680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399365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1089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transparente à l'ETNIC de notre démarche autonome.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16485" y="3886200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381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9365" y="4023360"/>
            <a:ext cx="411480" cy="411480"/>
          </a:xfrm>
          <a:prstGeom prst="ellipse">
            <a:avLst/>
          </a:prstGeom>
          <a:solidFill>
            <a:srgbClr val="7C6BAA"/>
          </a:solidFill>
          <a:ln/>
        </p:spPr>
      </p:sp>
      <p:sp>
        <p:nvSpPr>
          <p:cNvPr id="19" name="Text 16"/>
          <p:cNvSpPr/>
          <p:nvPr/>
        </p:nvSpPr>
        <p:spPr>
          <a:xfrm>
            <a:off x="399365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39776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d'étape à la fin du Sprint 2 (novembre 2026) pour un GO/NO-GO.</a:t>
            </a:r>
            <a:endParaRPr lang="en-US" sz="1400" dirty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12" y="129240"/>
            <a:ext cx="2522858" cy="648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113" y="1887610"/>
            <a:ext cx="1952870" cy="1952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2503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Ils ne savaient pas que c'était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alors ils l'ont fait. »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31394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Twain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9373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Horizon 2035 — Transmettre un patrimoine. Ensemble.</a:t>
            </a:r>
            <a:endParaRPr lang="en-US" sz="16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571" y="4396545"/>
            <a:ext cx="2522858" cy="6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1282</Words>
  <Application>Microsoft Office PowerPoint</Application>
  <PresentationFormat>Affichage à l'écran (16:9)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CPM Horizon 2035 — Schéma directeur de transformation numérique</dc:title>
  <dc:subject>PptxGenJS Presentation</dc:subject>
  <dc:creator>CPM — Fédération Wallonie-Bruxelles</dc:creator>
  <cp:lastModifiedBy>PRETTO Olivier</cp:lastModifiedBy>
  <cp:revision>2</cp:revision>
  <dcterms:created xsi:type="dcterms:W3CDTF">2026-08-07T19:05:54Z</dcterms:created>
  <dcterms:modified xsi:type="dcterms:W3CDTF">2026-08-08T05:29:42Z</dcterms:modified>
</cp:coreProperties>
</file>